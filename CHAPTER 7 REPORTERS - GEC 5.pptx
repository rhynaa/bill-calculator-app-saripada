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71" r:id="rId4"/>
    <p:sldId id="273" r:id="rId5"/>
    <p:sldId id="272"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1168618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398749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3887342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94DEAEA-7E0A-4EE7-BDF7-A243C1130E30}" type="datetimeFigureOut">
              <a:rPr lang="en-US" smtClean="0"/>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312992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94DEAEA-7E0A-4EE7-BDF7-A243C1130E30}" type="datetimeFigureOut">
              <a:rPr lang="en-US" smtClean="0"/>
              <a:t>10/19/2025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696852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4259322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2060142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394551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4DEAEA-7E0A-4EE7-BDF7-A243C1130E30}" type="datetimeFigureOut">
              <a:rPr lang="en-US" smtClean="0"/>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2780518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4DEAEA-7E0A-4EE7-BDF7-A243C1130E30}" type="datetimeFigureOut">
              <a:rPr lang="en-US" smtClean="0"/>
              <a:t>10/19/2025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3132981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2399320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36132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1303821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2079658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1292301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34151109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4DEAEA-7E0A-4EE7-BDF7-A243C1130E30}" type="datetimeFigureOut">
              <a:rPr lang="en-US" smtClean="0"/>
              <a:t>10/19/2025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BE84DC-BA2D-4829-962C-465BBC1E80D6}" type="slidenum">
              <a:rPr lang="en-US" smtClean="0"/>
              <a:t>‹#›</a:t>
            </a:fld>
            <a:endParaRPr lang="en-US"/>
          </a:p>
        </p:txBody>
      </p:sp>
    </p:spTree>
    <p:extLst>
      <p:ext uri="{BB962C8B-B14F-4D97-AF65-F5344CB8AC3E}">
        <p14:creationId xmlns:p14="http://schemas.microsoft.com/office/powerpoint/2010/main" val="1128674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94DEAEA-7E0A-4EE7-BDF7-A243C1130E30}" type="datetimeFigureOut">
              <a:rPr lang="en-US" smtClean="0"/>
              <a:t>10/19/2025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ABE84DC-BA2D-4829-962C-465BBC1E80D6}" type="slidenum">
              <a:rPr lang="en-US" smtClean="0"/>
              <a:t>‹#›</a:t>
            </a:fld>
            <a:endParaRPr lang="en-US"/>
          </a:p>
        </p:txBody>
      </p:sp>
    </p:spTree>
    <p:extLst>
      <p:ext uri="{BB962C8B-B14F-4D97-AF65-F5344CB8AC3E}">
        <p14:creationId xmlns:p14="http://schemas.microsoft.com/office/powerpoint/2010/main" val="280793692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82922-79C2-F925-3A97-E5B24A393C40}"/>
              </a:ext>
            </a:extLst>
          </p:cNvPr>
          <p:cNvSpPr>
            <a:spLocks noGrp="1"/>
          </p:cNvSpPr>
          <p:nvPr>
            <p:ph type="ctrTitle"/>
          </p:nvPr>
        </p:nvSpPr>
        <p:spPr>
          <a:xfrm>
            <a:off x="2521640" y="1135626"/>
            <a:ext cx="8825658" cy="3329581"/>
          </a:xfrm>
        </p:spPr>
        <p:txBody>
          <a:bodyPr/>
          <a:lstStyle/>
          <a:p>
            <a:r>
              <a:rPr lang="en-US" b="1" dirty="0"/>
              <a:t>Communication </a:t>
            </a:r>
            <a:br>
              <a:rPr lang="en-US" b="1" dirty="0"/>
            </a:br>
            <a:r>
              <a:rPr lang="en-US" b="1" dirty="0"/>
              <a:t>for work </a:t>
            </a:r>
            <a:br>
              <a:rPr lang="en-US" b="1" dirty="0"/>
            </a:br>
            <a:r>
              <a:rPr lang="en-US" b="1" dirty="0"/>
              <a:t>purposes</a:t>
            </a:r>
          </a:p>
        </p:txBody>
      </p:sp>
      <p:sp>
        <p:nvSpPr>
          <p:cNvPr id="3" name="Subtitle 2">
            <a:extLst>
              <a:ext uri="{FF2B5EF4-FFF2-40B4-BE49-F238E27FC236}">
                <a16:creationId xmlns:a16="http://schemas.microsoft.com/office/drawing/2014/main" id="{D81071FB-7924-F7ED-0607-AB29414AB306}"/>
              </a:ext>
            </a:extLst>
          </p:cNvPr>
          <p:cNvSpPr>
            <a:spLocks noGrp="1"/>
          </p:cNvSpPr>
          <p:nvPr>
            <p:ph type="subTitle" idx="1"/>
          </p:nvPr>
        </p:nvSpPr>
        <p:spPr>
          <a:xfrm>
            <a:off x="250387" y="274206"/>
            <a:ext cx="8825658" cy="861420"/>
          </a:xfrm>
        </p:spPr>
        <p:txBody>
          <a:bodyPr/>
          <a:lstStyle/>
          <a:p>
            <a:r>
              <a:rPr lang="en-US" b="1" dirty="0"/>
              <a:t>Chapter 7</a:t>
            </a:r>
          </a:p>
        </p:txBody>
      </p:sp>
      <p:sp>
        <p:nvSpPr>
          <p:cNvPr id="5" name="Subtitle 2">
            <a:extLst>
              <a:ext uri="{FF2B5EF4-FFF2-40B4-BE49-F238E27FC236}">
                <a16:creationId xmlns:a16="http://schemas.microsoft.com/office/drawing/2014/main" id="{D3311E23-D2FE-2978-2995-447285EAEA30}"/>
              </a:ext>
            </a:extLst>
          </p:cNvPr>
          <p:cNvSpPr txBox="1">
            <a:spLocks/>
          </p:cNvSpPr>
          <p:nvPr/>
        </p:nvSpPr>
        <p:spPr>
          <a:xfrm>
            <a:off x="8488837" y="4089397"/>
            <a:ext cx="4264474" cy="2474459"/>
          </a:xfrm>
          <a:prstGeom prst="rect">
            <a:avLst/>
          </a:prstGeom>
        </p:spPr>
        <p:txBody>
          <a:bodyPr vert="horz" lIns="91440" tIns="45720" rIns="91440" bIns="45720" rtlCol="0" anchor="t">
            <a:normAutofit lnSpcReduction="10000"/>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0" i="0" kern="1200" cap="all">
                <a:solidFill>
                  <a:schemeClr val="bg2">
                    <a:lumMod val="40000"/>
                    <a:lumOff val="60000"/>
                  </a:schemeClr>
                </a:solidFill>
                <a:latin typeface="+mj-lt"/>
                <a:ea typeface="+mj-ea"/>
                <a:cs typeface="+mj-cs"/>
              </a:defRPr>
            </a:lvl1pPr>
            <a:lvl2pPr marL="4572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800" b="0" i="0" kern="1200">
                <a:solidFill>
                  <a:schemeClr val="tx1">
                    <a:tint val="75000"/>
                  </a:schemeClr>
                </a:solidFill>
                <a:latin typeface="+mj-lt"/>
                <a:ea typeface="+mj-ea"/>
                <a:cs typeface="+mj-cs"/>
              </a:defRPr>
            </a:lvl2pPr>
            <a:lvl3pPr marL="9144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600" b="0" i="0" kern="1200">
                <a:solidFill>
                  <a:schemeClr val="tx1">
                    <a:tint val="75000"/>
                  </a:schemeClr>
                </a:solidFill>
                <a:latin typeface="+mj-lt"/>
                <a:ea typeface="+mj-ea"/>
                <a:cs typeface="+mj-cs"/>
              </a:defRPr>
            </a:lvl3pPr>
            <a:lvl4pPr marL="13716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4pPr>
            <a:lvl5pPr marL="18288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5pPr>
            <a:lvl6pPr marL="22860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6pPr>
            <a:lvl7pPr marL="27432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7pPr>
            <a:lvl8pPr marL="32004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8pPr>
            <a:lvl9pPr marL="3657600" indent="0" algn="ctr" defTabSz="457200" rtl="0" eaLnBrk="1" latinLnBrk="0" hangingPunct="1">
              <a:spcBef>
                <a:spcPts val="1000"/>
              </a:spcBef>
              <a:spcAft>
                <a:spcPts val="0"/>
              </a:spcAft>
              <a:buClr>
                <a:schemeClr val="bg2">
                  <a:lumMod val="40000"/>
                  <a:lumOff val="60000"/>
                </a:schemeClr>
              </a:buClr>
              <a:buSzPct val="80000"/>
              <a:buFont typeface="Wingdings 3" charset="2"/>
              <a:buNone/>
              <a:defRPr sz="1400" b="0" i="0" kern="1200">
                <a:solidFill>
                  <a:schemeClr val="tx1">
                    <a:tint val="75000"/>
                  </a:schemeClr>
                </a:solidFill>
                <a:latin typeface="+mj-lt"/>
                <a:ea typeface="+mj-ea"/>
                <a:cs typeface="+mj-cs"/>
              </a:defRPr>
            </a:lvl9pPr>
          </a:lstStyle>
          <a:p>
            <a:r>
              <a:rPr lang="en-US" b="1" dirty="0"/>
              <a:t>Reporters: </a:t>
            </a:r>
          </a:p>
          <a:p>
            <a:r>
              <a:rPr lang="en-US" b="1" dirty="0"/>
              <a:t>Mark Christian I. Barro </a:t>
            </a:r>
          </a:p>
          <a:p>
            <a:r>
              <a:rPr lang="en-US" b="1" dirty="0"/>
              <a:t>Lemuel Lee Bandes </a:t>
            </a:r>
          </a:p>
          <a:p>
            <a:r>
              <a:rPr lang="en-US" b="1" dirty="0"/>
              <a:t>Mohammad Alfaiz Pala </a:t>
            </a:r>
          </a:p>
          <a:p>
            <a:r>
              <a:rPr lang="en-US" b="1" dirty="0"/>
              <a:t>Mark Sumile Ramos </a:t>
            </a:r>
          </a:p>
          <a:p>
            <a:r>
              <a:rPr lang="en-US" b="1" dirty="0"/>
              <a:t>Rayhana Saripada</a:t>
            </a:r>
          </a:p>
        </p:txBody>
      </p:sp>
    </p:spTree>
    <p:extLst>
      <p:ext uri="{BB962C8B-B14F-4D97-AF65-F5344CB8AC3E}">
        <p14:creationId xmlns:p14="http://schemas.microsoft.com/office/powerpoint/2010/main" val="1348486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48866-6F18-47CA-5A7C-A4B0561DDB4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6A17AA5-F2A9-96A4-5CE4-9BE18B5E3A4A}"/>
              </a:ext>
            </a:extLst>
          </p:cNvPr>
          <p:cNvSpPr txBox="1"/>
          <p:nvPr/>
        </p:nvSpPr>
        <p:spPr>
          <a:xfrm>
            <a:off x="2625213" y="607143"/>
            <a:ext cx="6577781" cy="861774"/>
          </a:xfrm>
          <a:prstGeom prst="rect">
            <a:avLst/>
          </a:prstGeom>
          <a:noFill/>
        </p:spPr>
        <p:txBody>
          <a:bodyPr wrap="square">
            <a:spAutoFit/>
          </a:bodyPr>
          <a:lstStyle/>
          <a:p>
            <a:pPr algn="ctr"/>
            <a:r>
              <a:rPr lang="en-US" sz="5000" b="1" dirty="0"/>
              <a:t>Learning Outcomes</a:t>
            </a:r>
          </a:p>
        </p:txBody>
      </p:sp>
      <p:sp>
        <p:nvSpPr>
          <p:cNvPr id="11" name="TextBox 10">
            <a:extLst>
              <a:ext uri="{FF2B5EF4-FFF2-40B4-BE49-F238E27FC236}">
                <a16:creationId xmlns:a16="http://schemas.microsoft.com/office/drawing/2014/main" id="{E01454CC-D95C-F89B-3EBD-31912BA4B208}"/>
              </a:ext>
            </a:extLst>
          </p:cNvPr>
          <p:cNvSpPr txBox="1"/>
          <p:nvPr/>
        </p:nvSpPr>
        <p:spPr>
          <a:xfrm>
            <a:off x="442452" y="2274838"/>
            <a:ext cx="2635045" cy="2123658"/>
          </a:xfrm>
          <a:prstGeom prst="rect">
            <a:avLst/>
          </a:prstGeom>
          <a:noFill/>
        </p:spPr>
        <p:txBody>
          <a:bodyPr wrap="square">
            <a:spAutoFit/>
          </a:bodyPr>
          <a:lstStyle/>
          <a:p>
            <a:r>
              <a:rPr lang="en-US" sz="2200" dirty="0"/>
              <a:t>Create clear,</a:t>
            </a:r>
          </a:p>
          <a:p>
            <a:r>
              <a:rPr lang="en-US" sz="2200" dirty="0"/>
              <a:t>coherent, and</a:t>
            </a:r>
          </a:p>
          <a:p>
            <a:r>
              <a:rPr lang="en-US" sz="2200" dirty="0"/>
              <a:t>effective</a:t>
            </a:r>
          </a:p>
          <a:p>
            <a:r>
              <a:rPr lang="en-US" sz="2200" dirty="0"/>
              <a:t>communication materials for the workplace.</a:t>
            </a:r>
          </a:p>
        </p:txBody>
      </p:sp>
      <p:sp>
        <p:nvSpPr>
          <p:cNvPr id="12" name="TextBox 11">
            <a:extLst>
              <a:ext uri="{FF2B5EF4-FFF2-40B4-BE49-F238E27FC236}">
                <a16:creationId xmlns:a16="http://schemas.microsoft.com/office/drawing/2014/main" id="{548C4F9B-67A7-D638-9E43-67E89A87B811}"/>
              </a:ext>
            </a:extLst>
          </p:cNvPr>
          <p:cNvSpPr txBox="1"/>
          <p:nvPr/>
        </p:nvSpPr>
        <p:spPr>
          <a:xfrm>
            <a:off x="3279058" y="2274838"/>
            <a:ext cx="2944761" cy="2462213"/>
          </a:xfrm>
          <a:prstGeom prst="rect">
            <a:avLst/>
          </a:prstGeom>
          <a:noFill/>
        </p:spPr>
        <p:txBody>
          <a:bodyPr wrap="square">
            <a:spAutoFit/>
          </a:bodyPr>
          <a:lstStyle/>
          <a:p>
            <a:r>
              <a:rPr lang="en-US" sz="2200" dirty="0"/>
              <a:t>Present ideas</a:t>
            </a:r>
          </a:p>
          <a:p>
            <a:r>
              <a:rPr lang="en-US" sz="2200" dirty="0"/>
              <a:t>persuasively using appropriate</a:t>
            </a:r>
          </a:p>
          <a:p>
            <a:r>
              <a:rPr lang="en-US" sz="2200" dirty="0"/>
              <a:t>language registers,tone, facial</a:t>
            </a:r>
          </a:p>
          <a:p>
            <a:r>
              <a:rPr lang="en-US" sz="2200" dirty="0"/>
              <a:t>expressions, and</a:t>
            </a:r>
          </a:p>
          <a:p>
            <a:r>
              <a:rPr lang="en-US" sz="2200" dirty="0"/>
              <a:t>gestures.</a:t>
            </a:r>
          </a:p>
        </p:txBody>
      </p:sp>
      <p:sp>
        <p:nvSpPr>
          <p:cNvPr id="13" name="TextBox 12">
            <a:extLst>
              <a:ext uri="{FF2B5EF4-FFF2-40B4-BE49-F238E27FC236}">
                <a16:creationId xmlns:a16="http://schemas.microsoft.com/office/drawing/2014/main" id="{F028B4C8-4AAB-82A7-2FBB-2F5BC89D82AB}"/>
              </a:ext>
            </a:extLst>
          </p:cNvPr>
          <p:cNvSpPr txBox="1"/>
          <p:nvPr/>
        </p:nvSpPr>
        <p:spPr>
          <a:xfrm>
            <a:off x="6381135" y="2274838"/>
            <a:ext cx="2635045" cy="2462213"/>
          </a:xfrm>
          <a:prstGeom prst="rect">
            <a:avLst/>
          </a:prstGeom>
          <a:noFill/>
        </p:spPr>
        <p:txBody>
          <a:bodyPr wrap="square">
            <a:spAutoFit/>
          </a:bodyPr>
          <a:lstStyle/>
          <a:p>
            <a:r>
              <a:rPr lang="en-US" sz="2200" dirty="0"/>
              <a:t>Consider audience and context in the</a:t>
            </a:r>
          </a:p>
          <a:p>
            <a:r>
              <a:rPr lang="en-US" sz="2200" dirty="0"/>
              <a:t>preparation of each communication</a:t>
            </a:r>
          </a:p>
          <a:p>
            <a:r>
              <a:rPr lang="en-US" sz="2200" dirty="0"/>
              <a:t>output.</a:t>
            </a:r>
          </a:p>
        </p:txBody>
      </p:sp>
      <p:sp>
        <p:nvSpPr>
          <p:cNvPr id="14" name="TextBox 13">
            <a:extLst>
              <a:ext uri="{FF2B5EF4-FFF2-40B4-BE49-F238E27FC236}">
                <a16:creationId xmlns:a16="http://schemas.microsoft.com/office/drawing/2014/main" id="{1D9E72FD-5324-1C39-5524-7510F1529798}"/>
              </a:ext>
            </a:extLst>
          </p:cNvPr>
          <p:cNvSpPr txBox="1"/>
          <p:nvPr/>
        </p:nvSpPr>
        <p:spPr>
          <a:xfrm>
            <a:off x="9139087" y="2274838"/>
            <a:ext cx="2635045" cy="1785104"/>
          </a:xfrm>
          <a:prstGeom prst="rect">
            <a:avLst/>
          </a:prstGeom>
          <a:noFill/>
        </p:spPr>
        <p:txBody>
          <a:bodyPr wrap="square">
            <a:spAutoFit/>
          </a:bodyPr>
          <a:lstStyle/>
          <a:p>
            <a:r>
              <a:rPr lang="en-US" sz="2200" dirty="0"/>
              <a:t>Produce suitable</a:t>
            </a:r>
          </a:p>
          <a:p>
            <a:r>
              <a:rPr lang="en-US" sz="2200" dirty="0"/>
              <a:t>documents with</a:t>
            </a:r>
          </a:p>
          <a:p>
            <a:r>
              <a:rPr lang="en-US" sz="2200" dirty="0"/>
              <a:t>formats required in various workplaces.</a:t>
            </a:r>
          </a:p>
        </p:txBody>
      </p:sp>
      <p:sp>
        <p:nvSpPr>
          <p:cNvPr id="15" name="TextBox 14">
            <a:extLst>
              <a:ext uri="{FF2B5EF4-FFF2-40B4-BE49-F238E27FC236}">
                <a16:creationId xmlns:a16="http://schemas.microsoft.com/office/drawing/2014/main" id="{115DBC06-BC06-BD1A-C605-C3A06C52265B}"/>
              </a:ext>
            </a:extLst>
          </p:cNvPr>
          <p:cNvSpPr txBox="1"/>
          <p:nvPr/>
        </p:nvSpPr>
        <p:spPr>
          <a:xfrm>
            <a:off x="1130710" y="1753923"/>
            <a:ext cx="397866" cy="553998"/>
          </a:xfrm>
          <a:prstGeom prst="rect">
            <a:avLst/>
          </a:prstGeom>
          <a:noFill/>
        </p:spPr>
        <p:txBody>
          <a:bodyPr wrap="none" rtlCol="0">
            <a:spAutoFit/>
          </a:bodyPr>
          <a:lstStyle/>
          <a:p>
            <a:r>
              <a:rPr lang="en-US" sz="3000" dirty="0"/>
              <a:t>1</a:t>
            </a:r>
          </a:p>
        </p:txBody>
      </p:sp>
      <p:sp>
        <p:nvSpPr>
          <p:cNvPr id="16" name="TextBox 15">
            <a:extLst>
              <a:ext uri="{FF2B5EF4-FFF2-40B4-BE49-F238E27FC236}">
                <a16:creationId xmlns:a16="http://schemas.microsoft.com/office/drawing/2014/main" id="{EDAFB480-DDB5-4F6F-DB05-3F09CE99CC93}"/>
              </a:ext>
            </a:extLst>
          </p:cNvPr>
          <p:cNvSpPr txBox="1"/>
          <p:nvPr/>
        </p:nvSpPr>
        <p:spPr>
          <a:xfrm>
            <a:off x="4124633" y="1753923"/>
            <a:ext cx="397866" cy="553998"/>
          </a:xfrm>
          <a:prstGeom prst="rect">
            <a:avLst/>
          </a:prstGeom>
          <a:noFill/>
        </p:spPr>
        <p:txBody>
          <a:bodyPr wrap="none" rtlCol="0">
            <a:spAutoFit/>
          </a:bodyPr>
          <a:lstStyle/>
          <a:p>
            <a:r>
              <a:rPr lang="en-US" sz="3000" dirty="0"/>
              <a:t>2</a:t>
            </a:r>
          </a:p>
        </p:txBody>
      </p:sp>
      <p:sp>
        <p:nvSpPr>
          <p:cNvPr id="17" name="TextBox 16">
            <a:extLst>
              <a:ext uri="{FF2B5EF4-FFF2-40B4-BE49-F238E27FC236}">
                <a16:creationId xmlns:a16="http://schemas.microsoft.com/office/drawing/2014/main" id="{E9E0B627-9D84-6C34-E66E-AB69709DEDCE}"/>
              </a:ext>
            </a:extLst>
          </p:cNvPr>
          <p:cNvSpPr txBox="1"/>
          <p:nvPr/>
        </p:nvSpPr>
        <p:spPr>
          <a:xfrm>
            <a:off x="9815222" y="1753923"/>
            <a:ext cx="397866" cy="553998"/>
          </a:xfrm>
          <a:prstGeom prst="rect">
            <a:avLst/>
          </a:prstGeom>
          <a:noFill/>
        </p:spPr>
        <p:txBody>
          <a:bodyPr wrap="none" rtlCol="0">
            <a:spAutoFit/>
          </a:bodyPr>
          <a:lstStyle/>
          <a:p>
            <a:r>
              <a:rPr lang="en-US" sz="3000" dirty="0"/>
              <a:t>4</a:t>
            </a:r>
          </a:p>
        </p:txBody>
      </p:sp>
      <p:sp>
        <p:nvSpPr>
          <p:cNvPr id="18" name="TextBox 17">
            <a:extLst>
              <a:ext uri="{FF2B5EF4-FFF2-40B4-BE49-F238E27FC236}">
                <a16:creationId xmlns:a16="http://schemas.microsoft.com/office/drawing/2014/main" id="{C267350A-B965-B0E6-A3DA-23DE8EAAF7DD}"/>
              </a:ext>
            </a:extLst>
          </p:cNvPr>
          <p:cNvSpPr txBox="1"/>
          <p:nvPr/>
        </p:nvSpPr>
        <p:spPr>
          <a:xfrm>
            <a:off x="7069394" y="1753923"/>
            <a:ext cx="397866" cy="553998"/>
          </a:xfrm>
          <a:prstGeom prst="rect">
            <a:avLst/>
          </a:prstGeom>
          <a:noFill/>
        </p:spPr>
        <p:txBody>
          <a:bodyPr wrap="none" rtlCol="0">
            <a:spAutoFit/>
          </a:bodyPr>
          <a:lstStyle/>
          <a:p>
            <a:r>
              <a:rPr lang="en-US" sz="3000" dirty="0"/>
              <a:t>3</a:t>
            </a:r>
          </a:p>
        </p:txBody>
      </p:sp>
    </p:spTree>
    <p:extLst>
      <p:ext uri="{BB962C8B-B14F-4D97-AF65-F5344CB8AC3E}">
        <p14:creationId xmlns:p14="http://schemas.microsoft.com/office/powerpoint/2010/main" val="1699909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15B75-A444-42EF-7841-38579B234F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ACEF3A4-83FB-B612-F2C1-23FF5F125601}"/>
              </a:ext>
            </a:extLst>
          </p:cNvPr>
          <p:cNvSpPr txBox="1"/>
          <p:nvPr/>
        </p:nvSpPr>
        <p:spPr>
          <a:xfrm>
            <a:off x="4262282" y="1061158"/>
            <a:ext cx="4257369" cy="861774"/>
          </a:xfrm>
          <a:prstGeom prst="rect">
            <a:avLst/>
          </a:prstGeom>
          <a:noFill/>
        </p:spPr>
        <p:txBody>
          <a:bodyPr wrap="square">
            <a:spAutoFit/>
          </a:bodyPr>
          <a:lstStyle/>
          <a:p>
            <a:r>
              <a:rPr lang="en-US" sz="5000" b="1" dirty="0"/>
              <a:t>Introduction</a:t>
            </a:r>
          </a:p>
        </p:txBody>
      </p:sp>
      <p:sp>
        <p:nvSpPr>
          <p:cNvPr id="9" name="TextBox 8">
            <a:extLst>
              <a:ext uri="{FF2B5EF4-FFF2-40B4-BE49-F238E27FC236}">
                <a16:creationId xmlns:a16="http://schemas.microsoft.com/office/drawing/2014/main" id="{04C24AC7-6B9A-D492-D493-CAE3E72D1625}"/>
              </a:ext>
            </a:extLst>
          </p:cNvPr>
          <p:cNvSpPr txBox="1"/>
          <p:nvPr/>
        </p:nvSpPr>
        <p:spPr>
          <a:xfrm>
            <a:off x="1484673" y="2317472"/>
            <a:ext cx="9596284" cy="1938992"/>
          </a:xfrm>
          <a:prstGeom prst="rect">
            <a:avLst/>
          </a:prstGeom>
          <a:noFill/>
        </p:spPr>
        <p:txBody>
          <a:bodyPr wrap="square">
            <a:spAutoFit/>
          </a:bodyPr>
          <a:lstStyle/>
          <a:p>
            <a:r>
              <a:rPr lang="en-US" sz="2400" b="1" dirty="0"/>
              <a:t>Communication for work purposes </a:t>
            </a:r>
            <a:r>
              <a:rPr lang="en-US" sz="2400" dirty="0"/>
              <a:t>- is the process of</a:t>
            </a:r>
          </a:p>
          <a:p>
            <a:r>
              <a:rPr lang="en-US" sz="2400" dirty="0"/>
              <a:t>exchanging information, ideas, and messages in a professional setting to achieve organizational goals. It involves verbal, non-verbal, and written forms of communication used to ensure</a:t>
            </a:r>
          </a:p>
          <a:p>
            <a:r>
              <a:rPr lang="en-US" sz="2400" dirty="0"/>
              <a:t>understanding, collaboration, and effective job performance.</a:t>
            </a:r>
          </a:p>
        </p:txBody>
      </p:sp>
    </p:spTree>
    <p:extLst>
      <p:ext uri="{BB962C8B-B14F-4D97-AF65-F5344CB8AC3E}">
        <p14:creationId xmlns:p14="http://schemas.microsoft.com/office/powerpoint/2010/main" val="3583933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FE67A-A69B-A92C-83A3-E3844387316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2203B2B-BC8D-3C03-B457-804BAECDE56C}"/>
              </a:ext>
            </a:extLst>
          </p:cNvPr>
          <p:cNvSpPr txBox="1"/>
          <p:nvPr/>
        </p:nvSpPr>
        <p:spPr>
          <a:xfrm>
            <a:off x="3352799" y="906714"/>
            <a:ext cx="5289755" cy="861774"/>
          </a:xfrm>
          <a:prstGeom prst="rect">
            <a:avLst/>
          </a:prstGeom>
          <a:noFill/>
        </p:spPr>
        <p:txBody>
          <a:bodyPr wrap="square">
            <a:spAutoFit/>
          </a:bodyPr>
          <a:lstStyle/>
          <a:p>
            <a:r>
              <a:rPr lang="en-US" sz="5000" b="1" dirty="0"/>
              <a:t>Basics of Writing</a:t>
            </a:r>
          </a:p>
        </p:txBody>
      </p:sp>
      <p:sp>
        <p:nvSpPr>
          <p:cNvPr id="9" name="TextBox 8">
            <a:extLst>
              <a:ext uri="{FF2B5EF4-FFF2-40B4-BE49-F238E27FC236}">
                <a16:creationId xmlns:a16="http://schemas.microsoft.com/office/drawing/2014/main" id="{1C661157-2A96-464B-2AE7-C2A916F03A1A}"/>
              </a:ext>
            </a:extLst>
          </p:cNvPr>
          <p:cNvSpPr txBox="1"/>
          <p:nvPr/>
        </p:nvSpPr>
        <p:spPr>
          <a:xfrm>
            <a:off x="953728" y="2140645"/>
            <a:ext cx="10589341" cy="1138773"/>
          </a:xfrm>
          <a:prstGeom prst="rect">
            <a:avLst/>
          </a:prstGeom>
          <a:noFill/>
        </p:spPr>
        <p:txBody>
          <a:bodyPr wrap="square">
            <a:spAutoFit/>
          </a:bodyPr>
          <a:lstStyle/>
          <a:p>
            <a:r>
              <a:rPr lang="en-US" sz="2400" b="1" dirty="0"/>
              <a:t>Writing</a:t>
            </a:r>
            <a:r>
              <a:rPr lang="en-US" sz="2400" dirty="0"/>
              <a:t>  </a:t>
            </a:r>
            <a:r>
              <a:rPr lang="en-US" sz="2200" dirty="0"/>
              <a:t>is an essential skill in every job, used for letters, memos, emails, </a:t>
            </a:r>
            <a:r>
              <a:rPr lang="en-US" sz="2200" dirty="0" err="1"/>
              <a:t>reports,and</a:t>
            </a:r>
            <a:r>
              <a:rPr lang="en-US" sz="2200" dirty="0"/>
              <a:t> more. Clear writing ensures effective communication and smooth business operations among employees, managers, and stakeholders.</a:t>
            </a:r>
          </a:p>
        </p:txBody>
      </p:sp>
      <p:sp>
        <p:nvSpPr>
          <p:cNvPr id="13" name="TextBox 12">
            <a:extLst>
              <a:ext uri="{FF2B5EF4-FFF2-40B4-BE49-F238E27FC236}">
                <a16:creationId xmlns:a16="http://schemas.microsoft.com/office/drawing/2014/main" id="{330F95BD-0AE1-DC8F-6B16-6F8F3E3FD3DA}"/>
              </a:ext>
            </a:extLst>
          </p:cNvPr>
          <p:cNvSpPr txBox="1"/>
          <p:nvPr/>
        </p:nvSpPr>
        <p:spPr>
          <a:xfrm>
            <a:off x="953728" y="3893196"/>
            <a:ext cx="3215149" cy="1938992"/>
          </a:xfrm>
          <a:prstGeom prst="rect">
            <a:avLst/>
          </a:prstGeom>
          <a:noFill/>
        </p:spPr>
        <p:txBody>
          <a:bodyPr wrap="square">
            <a:spAutoFit/>
          </a:bodyPr>
          <a:lstStyle/>
          <a:p>
            <a:pPr algn="ctr"/>
            <a:r>
              <a:rPr lang="en-US" sz="2400" b="1" dirty="0"/>
              <a:t>Three Basics:</a:t>
            </a:r>
          </a:p>
          <a:p>
            <a:endParaRPr lang="en-US" sz="2400" b="1" dirty="0"/>
          </a:p>
          <a:p>
            <a:pPr marL="342900" indent="-342900">
              <a:buFont typeface="Arial" panose="020B0604020202020204" pitchFamily="34" charset="0"/>
              <a:buChar char="•"/>
            </a:pPr>
            <a:r>
              <a:rPr lang="en-US" sz="2400" dirty="0"/>
              <a:t>Purpose </a:t>
            </a:r>
          </a:p>
          <a:p>
            <a:pPr marL="342900" indent="-342900">
              <a:buFont typeface="Arial" panose="020B0604020202020204" pitchFamily="34" charset="0"/>
              <a:buChar char="•"/>
            </a:pPr>
            <a:r>
              <a:rPr lang="en-US" sz="2400" dirty="0"/>
              <a:t>Reader/Audience </a:t>
            </a:r>
          </a:p>
          <a:p>
            <a:pPr marL="342900" indent="-342900">
              <a:buFont typeface="Arial" panose="020B0604020202020204" pitchFamily="34" charset="0"/>
              <a:buChar char="•"/>
            </a:pPr>
            <a:r>
              <a:rPr lang="en-US" sz="2400" dirty="0"/>
              <a:t>Tone</a:t>
            </a:r>
            <a:endParaRPr lang="en-US" sz="2400" b="1" dirty="0"/>
          </a:p>
        </p:txBody>
      </p:sp>
    </p:spTree>
    <p:extLst>
      <p:ext uri="{BB962C8B-B14F-4D97-AF65-F5344CB8AC3E}">
        <p14:creationId xmlns:p14="http://schemas.microsoft.com/office/powerpoint/2010/main" val="1561294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BD181-F44A-4D20-7E74-DA1DFEAA58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F827F86-AD61-FAA9-849D-B223BBA664F4}"/>
              </a:ext>
            </a:extLst>
          </p:cNvPr>
          <p:cNvSpPr txBox="1"/>
          <p:nvPr/>
        </p:nvSpPr>
        <p:spPr>
          <a:xfrm>
            <a:off x="806243" y="287281"/>
            <a:ext cx="5171769" cy="1631216"/>
          </a:xfrm>
          <a:prstGeom prst="rect">
            <a:avLst/>
          </a:prstGeom>
          <a:noFill/>
        </p:spPr>
        <p:txBody>
          <a:bodyPr wrap="square">
            <a:spAutoFit/>
          </a:bodyPr>
          <a:lstStyle/>
          <a:p>
            <a:pPr algn="ctr"/>
            <a:r>
              <a:rPr lang="en-US" sz="5000" b="1" dirty="0">
                <a:effectLst/>
              </a:rPr>
              <a:t>Upward Communication</a:t>
            </a:r>
            <a:endParaRPr lang="en-US" sz="5000" b="1" dirty="0"/>
          </a:p>
        </p:txBody>
      </p:sp>
      <p:sp>
        <p:nvSpPr>
          <p:cNvPr id="6" name="TextBox 5">
            <a:extLst>
              <a:ext uri="{FF2B5EF4-FFF2-40B4-BE49-F238E27FC236}">
                <a16:creationId xmlns:a16="http://schemas.microsoft.com/office/drawing/2014/main" id="{E1B88A25-7E71-F8FF-1D31-CFD4678CF3A7}"/>
              </a:ext>
            </a:extLst>
          </p:cNvPr>
          <p:cNvSpPr txBox="1"/>
          <p:nvPr/>
        </p:nvSpPr>
        <p:spPr>
          <a:xfrm>
            <a:off x="6390967" y="287281"/>
            <a:ext cx="5171769" cy="1631216"/>
          </a:xfrm>
          <a:prstGeom prst="rect">
            <a:avLst/>
          </a:prstGeom>
          <a:noFill/>
        </p:spPr>
        <p:txBody>
          <a:bodyPr wrap="square">
            <a:spAutoFit/>
          </a:bodyPr>
          <a:lstStyle/>
          <a:p>
            <a:pPr algn="ctr"/>
            <a:r>
              <a:rPr lang="en-US" sz="5000" b="1" dirty="0">
                <a:effectLst/>
              </a:rPr>
              <a:t>Lateral Communication</a:t>
            </a:r>
            <a:endParaRPr lang="en-US" sz="5000" b="1" dirty="0"/>
          </a:p>
        </p:txBody>
      </p:sp>
      <p:sp>
        <p:nvSpPr>
          <p:cNvPr id="9" name="TextBox 8">
            <a:extLst>
              <a:ext uri="{FF2B5EF4-FFF2-40B4-BE49-F238E27FC236}">
                <a16:creationId xmlns:a16="http://schemas.microsoft.com/office/drawing/2014/main" id="{AA12433A-D085-2003-EE1D-67BD80BB5352}"/>
              </a:ext>
            </a:extLst>
          </p:cNvPr>
          <p:cNvSpPr txBox="1"/>
          <p:nvPr/>
        </p:nvSpPr>
        <p:spPr>
          <a:xfrm>
            <a:off x="6494206" y="2419185"/>
            <a:ext cx="4645741" cy="2462213"/>
          </a:xfrm>
          <a:prstGeom prst="rect">
            <a:avLst/>
          </a:prstGeom>
          <a:noFill/>
        </p:spPr>
        <p:txBody>
          <a:bodyPr wrap="square">
            <a:spAutoFit/>
          </a:bodyPr>
          <a:lstStyle/>
          <a:p>
            <a:r>
              <a:rPr lang="en-US" sz="2200" dirty="0"/>
              <a:t>The materials are sent to people who are of equal level or </a:t>
            </a:r>
          </a:p>
          <a:p>
            <a:r>
              <a:rPr lang="en-US" sz="2200" dirty="0"/>
              <a:t>status; that is; between members of the same division or </a:t>
            </a:r>
          </a:p>
          <a:p>
            <a:r>
              <a:rPr lang="en-US" sz="2200" dirty="0"/>
              <a:t>department of an organization. This communication serves the </a:t>
            </a:r>
          </a:p>
          <a:p>
            <a:r>
              <a:rPr lang="en-US" sz="2200" dirty="0"/>
              <a:t>following purposes.</a:t>
            </a:r>
          </a:p>
        </p:txBody>
      </p:sp>
      <p:sp>
        <p:nvSpPr>
          <p:cNvPr id="11" name="TextBox 10">
            <a:extLst>
              <a:ext uri="{FF2B5EF4-FFF2-40B4-BE49-F238E27FC236}">
                <a16:creationId xmlns:a16="http://schemas.microsoft.com/office/drawing/2014/main" id="{20FB8106-00E3-D530-56C3-D258A2B12247}"/>
              </a:ext>
            </a:extLst>
          </p:cNvPr>
          <p:cNvSpPr txBox="1"/>
          <p:nvPr/>
        </p:nvSpPr>
        <p:spPr>
          <a:xfrm>
            <a:off x="1061884" y="2419185"/>
            <a:ext cx="3913239" cy="2154436"/>
          </a:xfrm>
          <a:prstGeom prst="rect">
            <a:avLst/>
          </a:prstGeom>
          <a:noFill/>
        </p:spPr>
        <p:txBody>
          <a:bodyPr wrap="square">
            <a:spAutoFit/>
          </a:bodyPr>
          <a:lstStyle/>
          <a:p>
            <a:pPr>
              <a:buNone/>
            </a:pPr>
            <a:r>
              <a:rPr lang="en-US" sz="2400" b="1" dirty="0">
                <a:effectLst/>
              </a:rPr>
              <a:t>Upward communication </a:t>
            </a:r>
            <a:r>
              <a:rPr lang="en-US" sz="2200" dirty="0">
                <a:effectLst/>
              </a:rPr>
              <a:t>can convey varied types of message.</a:t>
            </a:r>
          </a:p>
          <a:p>
            <a:pPr>
              <a:buNone/>
            </a:pPr>
            <a:r>
              <a:rPr lang="en-US" sz="2200" dirty="0"/>
              <a:t>The written materials are sent by subordinates to their superiors. </a:t>
            </a:r>
          </a:p>
        </p:txBody>
      </p:sp>
    </p:spTree>
    <p:extLst>
      <p:ext uri="{BB962C8B-B14F-4D97-AF65-F5344CB8AC3E}">
        <p14:creationId xmlns:p14="http://schemas.microsoft.com/office/powerpoint/2010/main" val="3593320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261B-FD8B-6A01-6BC2-81FCA0EBDFB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52EF87-BB6B-D6F3-B2BD-6982619C2098}"/>
              </a:ext>
            </a:extLst>
          </p:cNvPr>
          <p:cNvSpPr txBox="1"/>
          <p:nvPr/>
        </p:nvSpPr>
        <p:spPr>
          <a:xfrm>
            <a:off x="786579" y="238121"/>
            <a:ext cx="5201265" cy="1631216"/>
          </a:xfrm>
          <a:prstGeom prst="rect">
            <a:avLst/>
          </a:prstGeom>
          <a:noFill/>
        </p:spPr>
        <p:txBody>
          <a:bodyPr wrap="square">
            <a:spAutoFit/>
          </a:bodyPr>
          <a:lstStyle/>
          <a:p>
            <a:pPr algn="ctr"/>
            <a:r>
              <a:rPr lang="en-US" sz="5000" b="1" dirty="0">
                <a:effectLst/>
              </a:rPr>
              <a:t>Downward Communication</a:t>
            </a:r>
            <a:endParaRPr lang="en-US" sz="5000" b="1" dirty="0"/>
          </a:p>
        </p:txBody>
      </p:sp>
      <p:sp>
        <p:nvSpPr>
          <p:cNvPr id="5" name="TextBox 4">
            <a:extLst>
              <a:ext uri="{FF2B5EF4-FFF2-40B4-BE49-F238E27FC236}">
                <a16:creationId xmlns:a16="http://schemas.microsoft.com/office/drawing/2014/main" id="{7A5E5E07-601F-80F0-351C-8AA75CA6DD72}"/>
              </a:ext>
            </a:extLst>
          </p:cNvPr>
          <p:cNvSpPr txBox="1"/>
          <p:nvPr/>
        </p:nvSpPr>
        <p:spPr>
          <a:xfrm>
            <a:off x="5771536" y="238121"/>
            <a:ext cx="6096000" cy="1631216"/>
          </a:xfrm>
          <a:prstGeom prst="rect">
            <a:avLst/>
          </a:prstGeom>
          <a:noFill/>
        </p:spPr>
        <p:txBody>
          <a:bodyPr wrap="square">
            <a:spAutoFit/>
          </a:bodyPr>
          <a:lstStyle/>
          <a:p>
            <a:pPr algn="ctr"/>
            <a:r>
              <a:rPr lang="en-US" sz="5000" b="1" dirty="0">
                <a:effectLst/>
              </a:rPr>
              <a:t>Outward Communication</a:t>
            </a:r>
            <a:endParaRPr lang="en-US" sz="5000" b="1" dirty="0"/>
          </a:p>
        </p:txBody>
      </p:sp>
      <p:sp>
        <p:nvSpPr>
          <p:cNvPr id="9" name="TextBox 8">
            <a:extLst>
              <a:ext uri="{FF2B5EF4-FFF2-40B4-BE49-F238E27FC236}">
                <a16:creationId xmlns:a16="http://schemas.microsoft.com/office/drawing/2014/main" id="{916B83C0-4457-7AC9-0E27-EAFC928FD28C}"/>
              </a:ext>
            </a:extLst>
          </p:cNvPr>
          <p:cNvSpPr txBox="1"/>
          <p:nvPr/>
        </p:nvSpPr>
        <p:spPr>
          <a:xfrm>
            <a:off x="1120876" y="2397825"/>
            <a:ext cx="4296697" cy="2492990"/>
          </a:xfrm>
          <a:prstGeom prst="rect">
            <a:avLst/>
          </a:prstGeom>
          <a:noFill/>
        </p:spPr>
        <p:txBody>
          <a:bodyPr wrap="square">
            <a:spAutoFit/>
          </a:bodyPr>
          <a:lstStyle/>
          <a:p>
            <a:r>
              <a:rPr lang="en-US" sz="2400" b="1" dirty="0"/>
              <a:t>Downward communication </a:t>
            </a:r>
            <a:r>
              <a:rPr lang="en-US" sz="2200" dirty="0"/>
              <a:t>is very important because giving instructions is</a:t>
            </a:r>
          </a:p>
          <a:p>
            <a:r>
              <a:rPr lang="en-US" sz="2200" dirty="0"/>
              <a:t>inevitable.</a:t>
            </a:r>
          </a:p>
          <a:p>
            <a:r>
              <a:rPr lang="en-US" sz="2200" dirty="0"/>
              <a:t>This kind of communication sent by superiors to their subordinates.</a:t>
            </a:r>
          </a:p>
        </p:txBody>
      </p:sp>
      <p:sp>
        <p:nvSpPr>
          <p:cNvPr id="13" name="TextBox 12">
            <a:extLst>
              <a:ext uri="{FF2B5EF4-FFF2-40B4-BE49-F238E27FC236}">
                <a16:creationId xmlns:a16="http://schemas.microsoft.com/office/drawing/2014/main" id="{5146A6E7-C66E-8CE6-2265-6AD23828B1E0}"/>
              </a:ext>
            </a:extLst>
          </p:cNvPr>
          <p:cNvSpPr txBox="1"/>
          <p:nvPr/>
        </p:nvSpPr>
        <p:spPr>
          <a:xfrm>
            <a:off x="6607280" y="1869337"/>
            <a:ext cx="4886632" cy="4154984"/>
          </a:xfrm>
          <a:prstGeom prst="rect">
            <a:avLst/>
          </a:prstGeom>
          <a:noFill/>
        </p:spPr>
        <p:txBody>
          <a:bodyPr wrap="square">
            <a:spAutoFit/>
          </a:bodyPr>
          <a:lstStyle/>
          <a:p>
            <a:r>
              <a:rPr lang="en-US" sz="2200" dirty="0"/>
              <a:t>This is intended for workers outside the workplace. An example is letter to</a:t>
            </a:r>
          </a:p>
          <a:p>
            <a:r>
              <a:rPr lang="en-US" sz="2200" dirty="0"/>
              <a:t>the comptroller pf a company regarding financial matters.</a:t>
            </a:r>
          </a:p>
          <a:p>
            <a:r>
              <a:rPr lang="en-US" sz="2200" dirty="0"/>
              <a:t>You need to consider the diffirences in reader category that are created by</a:t>
            </a:r>
          </a:p>
          <a:p>
            <a:r>
              <a:rPr lang="en-US" sz="2200" dirty="0"/>
              <a:t>the flow of communication because they affect your communication in</a:t>
            </a:r>
          </a:p>
          <a:p>
            <a:r>
              <a:rPr lang="en-US" sz="2200" dirty="0"/>
              <a:t>many ways, particularly format.</a:t>
            </a:r>
          </a:p>
        </p:txBody>
      </p:sp>
    </p:spTree>
    <p:extLst>
      <p:ext uri="{BB962C8B-B14F-4D97-AF65-F5344CB8AC3E}">
        <p14:creationId xmlns:p14="http://schemas.microsoft.com/office/powerpoint/2010/main" val="490255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7869-2C25-6AED-91AA-21BBCE05BD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5F7C916-E79F-B9B0-664E-7B19BAE3EB81}"/>
              </a:ext>
            </a:extLst>
          </p:cNvPr>
          <p:cNvSpPr txBox="1"/>
          <p:nvPr/>
        </p:nvSpPr>
        <p:spPr>
          <a:xfrm>
            <a:off x="550606" y="429314"/>
            <a:ext cx="5368414" cy="1631216"/>
          </a:xfrm>
          <a:prstGeom prst="rect">
            <a:avLst/>
          </a:prstGeom>
          <a:noFill/>
        </p:spPr>
        <p:txBody>
          <a:bodyPr wrap="square">
            <a:spAutoFit/>
          </a:bodyPr>
          <a:lstStyle/>
          <a:p>
            <a:pPr algn="ctr"/>
            <a:r>
              <a:rPr lang="en-US" sz="5000" b="1" dirty="0"/>
              <a:t>Minutes of Meetings</a:t>
            </a:r>
          </a:p>
        </p:txBody>
      </p:sp>
      <p:sp>
        <p:nvSpPr>
          <p:cNvPr id="9" name="TextBox 8">
            <a:extLst>
              <a:ext uri="{FF2B5EF4-FFF2-40B4-BE49-F238E27FC236}">
                <a16:creationId xmlns:a16="http://schemas.microsoft.com/office/drawing/2014/main" id="{74A422CA-262F-6F94-3F31-18D9B49E63C0}"/>
              </a:ext>
            </a:extLst>
          </p:cNvPr>
          <p:cNvSpPr txBox="1"/>
          <p:nvPr/>
        </p:nvSpPr>
        <p:spPr>
          <a:xfrm>
            <a:off x="801327" y="2227679"/>
            <a:ext cx="5614220" cy="2800767"/>
          </a:xfrm>
          <a:prstGeom prst="rect">
            <a:avLst/>
          </a:prstGeom>
          <a:noFill/>
        </p:spPr>
        <p:txBody>
          <a:bodyPr wrap="square">
            <a:spAutoFit/>
          </a:bodyPr>
          <a:lstStyle/>
          <a:p>
            <a:r>
              <a:rPr lang="en-US" sz="2200" dirty="0"/>
              <a:t>Minutes are official records of what happens in a meeting, including</a:t>
            </a:r>
          </a:p>
          <a:p>
            <a:r>
              <a:rPr lang="en-US" sz="2200" dirty="0"/>
              <a:t>shared information, discussions, and decisions. Minutes can be formal</a:t>
            </a:r>
          </a:p>
          <a:p>
            <a:r>
              <a:rPr lang="en-US" sz="2200" dirty="0"/>
              <a:t>(detailed, including exact motions, amendments, resolutions, and votes)</a:t>
            </a:r>
          </a:p>
          <a:p>
            <a:r>
              <a:rPr lang="en-US" sz="2200" dirty="0"/>
              <a:t>or informal (shorter, summarizing discussions). </a:t>
            </a:r>
          </a:p>
        </p:txBody>
      </p:sp>
      <p:pic>
        <p:nvPicPr>
          <p:cNvPr id="11" name="Picture 10">
            <a:extLst>
              <a:ext uri="{FF2B5EF4-FFF2-40B4-BE49-F238E27FC236}">
                <a16:creationId xmlns:a16="http://schemas.microsoft.com/office/drawing/2014/main" id="{1D6D7B64-17F1-DD90-D782-D0D40371ABF2}"/>
              </a:ext>
            </a:extLst>
          </p:cNvPr>
          <p:cNvPicPr>
            <a:picLocks noChangeAspect="1"/>
          </p:cNvPicPr>
          <p:nvPr/>
        </p:nvPicPr>
        <p:blipFill>
          <a:blip r:embed="rId2"/>
          <a:stretch>
            <a:fillRect/>
          </a:stretch>
        </p:blipFill>
        <p:spPr>
          <a:xfrm>
            <a:off x="7579150" y="665288"/>
            <a:ext cx="3531302" cy="5144465"/>
          </a:xfrm>
          <a:prstGeom prst="rect">
            <a:avLst/>
          </a:prstGeom>
        </p:spPr>
      </p:pic>
    </p:spTree>
    <p:extLst>
      <p:ext uri="{BB962C8B-B14F-4D97-AF65-F5344CB8AC3E}">
        <p14:creationId xmlns:p14="http://schemas.microsoft.com/office/powerpoint/2010/main" val="4183191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50360-5D3F-E904-1197-8D70C8CAA72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178CA32-F61C-0317-02F4-B64E11100F80}"/>
              </a:ext>
            </a:extLst>
          </p:cNvPr>
          <p:cNvSpPr txBox="1"/>
          <p:nvPr/>
        </p:nvSpPr>
        <p:spPr>
          <a:xfrm>
            <a:off x="1725561" y="263976"/>
            <a:ext cx="8740877" cy="1631216"/>
          </a:xfrm>
          <a:prstGeom prst="rect">
            <a:avLst/>
          </a:prstGeom>
          <a:noFill/>
        </p:spPr>
        <p:txBody>
          <a:bodyPr wrap="square">
            <a:spAutoFit/>
          </a:bodyPr>
          <a:lstStyle/>
          <a:p>
            <a:pPr algn="ctr"/>
            <a:r>
              <a:rPr lang="en-US" sz="5000" b="1" dirty="0"/>
              <a:t>GUIDELINES IN PREPARING</a:t>
            </a:r>
          </a:p>
          <a:p>
            <a:pPr algn="ctr"/>
            <a:r>
              <a:rPr lang="en-US" sz="5000" b="1" dirty="0"/>
              <a:t>THE MINUTES</a:t>
            </a:r>
          </a:p>
        </p:txBody>
      </p:sp>
      <p:sp>
        <p:nvSpPr>
          <p:cNvPr id="9" name="TextBox 8">
            <a:extLst>
              <a:ext uri="{FF2B5EF4-FFF2-40B4-BE49-F238E27FC236}">
                <a16:creationId xmlns:a16="http://schemas.microsoft.com/office/drawing/2014/main" id="{11BE9834-0243-F5DF-C866-9A7F90616F1F}"/>
              </a:ext>
            </a:extLst>
          </p:cNvPr>
          <p:cNvSpPr txBox="1"/>
          <p:nvPr/>
        </p:nvSpPr>
        <p:spPr>
          <a:xfrm>
            <a:off x="786580" y="1895192"/>
            <a:ext cx="9896168" cy="4401205"/>
          </a:xfrm>
          <a:prstGeom prst="rect">
            <a:avLst/>
          </a:prstGeom>
          <a:noFill/>
        </p:spPr>
        <p:txBody>
          <a:bodyPr wrap="square">
            <a:spAutoFit/>
          </a:bodyPr>
          <a:lstStyle/>
          <a:p>
            <a:r>
              <a:rPr lang="en-US" sz="2000" dirty="0"/>
              <a:t>1. All motions and resolutions are recorded, and proponents are identified by name.</a:t>
            </a:r>
          </a:p>
          <a:p>
            <a:r>
              <a:rPr lang="en-US" sz="2000" dirty="0"/>
              <a:t>2. Seconded motions are also noted and recorded although the ones who seconded</a:t>
            </a:r>
          </a:p>
          <a:p>
            <a:r>
              <a:rPr lang="en-US" sz="2000" dirty="0"/>
              <a:t>them need not be identified.</a:t>
            </a:r>
          </a:p>
          <a:p>
            <a:r>
              <a:rPr lang="en-US" sz="2000" dirty="0"/>
              <a:t>3. Results of seconded motions must be recorded and, whether approved or</a:t>
            </a:r>
          </a:p>
          <a:p>
            <a:r>
              <a:rPr lang="en-US" sz="2000" dirty="0"/>
              <a:t>rejected, should be indicated in the minutes.</a:t>
            </a:r>
          </a:p>
          <a:p>
            <a:r>
              <a:rPr lang="en-US" sz="2000" dirty="0"/>
              <a:t>4. Headings are used to mark report sections. Titles should be all capital letters.</a:t>
            </a:r>
          </a:p>
          <a:p>
            <a:r>
              <a:rPr lang="en-US" sz="2000" dirty="0"/>
              <a:t>5. Minutes of the previous meeting should also be taken up.</a:t>
            </a:r>
          </a:p>
          <a:p>
            <a:r>
              <a:rPr lang="en-US" sz="2000" dirty="0"/>
              <a:t>6. Do not report/write verbatim (word for word) what are said. Summarize. Readers</a:t>
            </a:r>
          </a:p>
          <a:p>
            <a:r>
              <a:rPr lang="en-US" sz="2000" dirty="0"/>
              <a:t>are more interested in results.</a:t>
            </a:r>
          </a:p>
          <a:p>
            <a:r>
              <a:rPr lang="en-US" sz="2000" dirty="0"/>
              <a:t>7. Lengthy discussions, debates, and reports given should be summarized.</a:t>
            </a:r>
          </a:p>
          <a:p>
            <a:r>
              <a:rPr lang="en-US" sz="2000" dirty="0"/>
              <a:t>8. The past tense is used</a:t>
            </a:r>
          </a:p>
        </p:txBody>
      </p:sp>
    </p:spTree>
    <p:extLst>
      <p:ext uri="{BB962C8B-B14F-4D97-AF65-F5344CB8AC3E}">
        <p14:creationId xmlns:p14="http://schemas.microsoft.com/office/powerpoint/2010/main" val="1740863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BA27C-6989-5634-7510-8D2CFE50BD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873EA27-A16F-ED8C-12A0-C155D7C0DA0A}"/>
              </a:ext>
            </a:extLst>
          </p:cNvPr>
          <p:cNvSpPr txBox="1"/>
          <p:nvPr/>
        </p:nvSpPr>
        <p:spPr>
          <a:xfrm>
            <a:off x="2251586" y="575029"/>
            <a:ext cx="8101781" cy="861774"/>
          </a:xfrm>
          <a:prstGeom prst="rect">
            <a:avLst/>
          </a:prstGeom>
          <a:noFill/>
        </p:spPr>
        <p:txBody>
          <a:bodyPr wrap="square">
            <a:spAutoFit/>
          </a:bodyPr>
          <a:lstStyle/>
          <a:p>
            <a:r>
              <a:rPr lang="en-US" sz="5000" b="1" dirty="0"/>
              <a:t>MEMORANDUM (MEMO)</a:t>
            </a:r>
          </a:p>
        </p:txBody>
      </p:sp>
      <p:sp>
        <p:nvSpPr>
          <p:cNvPr id="9" name="TextBox 8">
            <a:extLst>
              <a:ext uri="{FF2B5EF4-FFF2-40B4-BE49-F238E27FC236}">
                <a16:creationId xmlns:a16="http://schemas.microsoft.com/office/drawing/2014/main" id="{63AF8C7D-3266-52D3-ADA9-4B0CD8ECE4F5}"/>
              </a:ext>
            </a:extLst>
          </p:cNvPr>
          <p:cNvSpPr txBox="1"/>
          <p:nvPr/>
        </p:nvSpPr>
        <p:spPr>
          <a:xfrm>
            <a:off x="1054509" y="1758656"/>
            <a:ext cx="11668433" cy="4093428"/>
          </a:xfrm>
          <a:prstGeom prst="rect">
            <a:avLst/>
          </a:prstGeom>
          <a:noFill/>
        </p:spPr>
        <p:txBody>
          <a:bodyPr wrap="square">
            <a:spAutoFit/>
          </a:bodyPr>
          <a:lstStyle/>
          <a:p>
            <a:r>
              <a:rPr lang="en-US" sz="2000" dirty="0"/>
              <a:t>A </a:t>
            </a:r>
            <a:r>
              <a:rPr lang="en-US" sz="2000" b="1" dirty="0"/>
              <a:t>memo</a:t>
            </a:r>
            <a:r>
              <a:rPr lang="en-US" sz="2000" dirty="0"/>
              <a:t>, short for memorandum, is used for internal communication to record</a:t>
            </a:r>
          </a:p>
          <a:p>
            <a:r>
              <a:rPr lang="en-US" sz="2000" dirty="0"/>
              <a:t>important information. It is short, direct, and clearly states what must be done or</a:t>
            </a:r>
          </a:p>
          <a:p>
            <a:r>
              <a:rPr lang="en-US" sz="2000" dirty="0"/>
              <a:t>avoided, providing data for various functions.</a:t>
            </a:r>
          </a:p>
          <a:p>
            <a:endParaRPr lang="en-US" sz="2000" dirty="0"/>
          </a:p>
          <a:p>
            <a:r>
              <a:rPr lang="en-US" sz="2000" dirty="0"/>
              <a:t>1. Making announcements</a:t>
            </a:r>
          </a:p>
          <a:p>
            <a:r>
              <a:rPr lang="en-US" sz="2000" dirty="0"/>
              <a:t>2. Giving instructions</a:t>
            </a:r>
          </a:p>
          <a:p>
            <a:r>
              <a:rPr lang="en-US" sz="2000" dirty="0"/>
              <a:t>3. Clarifying a policy, procedure, or issue</a:t>
            </a:r>
          </a:p>
          <a:p>
            <a:r>
              <a:rPr lang="en-US" sz="2000" dirty="0"/>
              <a:t>4. Changing a policy or procedure</a:t>
            </a:r>
          </a:p>
          <a:p>
            <a:r>
              <a:rPr lang="en-US" sz="2000" dirty="0"/>
              <a:t>5. Alerting staff to a problem</a:t>
            </a:r>
          </a:p>
          <a:p>
            <a:r>
              <a:rPr lang="en-US" sz="2000" dirty="0"/>
              <a:t>6. Sending recommendations</a:t>
            </a:r>
          </a:p>
          <a:p>
            <a:r>
              <a:rPr lang="en-US" sz="2000" dirty="0"/>
              <a:t>7. Providing legal records</a:t>
            </a:r>
          </a:p>
          <a:p>
            <a:r>
              <a:rPr lang="en-US" sz="2000" dirty="0"/>
              <a:t>8. Calling a meeting</a:t>
            </a:r>
          </a:p>
          <a:p>
            <a:r>
              <a:rPr lang="en-US" sz="2000" dirty="0"/>
              <a:t>9. Reminding employees of corporate history, policy, and procedure.</a:t>
            </a:r>
          </a:p>
        </p:txBody>
      </p:sp>
    </p:spTree>
    <p:extLst>
      <p:ext uri="{BB962C8B-B14F-4D97-AF65-F5344CB8AC3E}">
        <p14:creationId xmlns:p14="http://schemas.microsoft.com/office/powerpoint/2010/main" val="1860277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26909-E4DD-4A67-F569-8EC9D97286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0BF45D2-6F47-7B0B-80DD-90139141AE35}"/>
              </a:ext>
            </a:extLst>
          </p:cNvPr>
          <p:cNvSpPr txBox="1"/>
          <p:nvPr/>
        </p:nvSpPr>
        <p:spPr>
          <a:xfrm>
            <a:off x="3048000" y="670740"/>
            <a:ext cx="6096000" cy="861774"/>
          </a:xfrm>
          <a:prstGeom prst="rect">
            <a:avLst/>
          </a:prstGeom>
          <a:noFill/>
        </p:spPr>
        <p:txBody>
          <a:bodyPr wrap="square">
            <a:spAutoFit/>
          </a:bodyPr>
          <a:lstStyle/>
          <a:p>
            <a:r>
              <a:rPr lang="en-US" sz="5000" b="1" dirty="0"/>
              <a:t>MEMO PROTOCOL</a:t>
            </a:r>
          </a:p>
        </p:txBody>
      </p:sp>
      <p:sp>
        <p:nvSpPr>
          <p:cNvPr id="9" name="TextBox 8">
            <a:extLst>
              <a:ext uri="{FF2B5EF4-FFF2-40B4-BE49-F238E27FC236}">
                <a16:creationId xmlns:a16="http://schemas.microsoft.com/office/drawing/2014/main" id="{9A42A36E-B09B-16D8-5185-E394BA042DAD}"/>
              </a:ext>
            </a:extLst>
          </p:cNvPr>
          <p:cNvSpPr txBox="1"/>
          <p:nvPr/>
        </p:nvSpPr>
        <p:spPr>
          <a:xfrm>
            <a:off x="698090" y="1769152"/>
            <a:ext cx="11198942" cy="3816429"/>
          </a:xfrm>
          <a:prstGeom prst="rect">
            <a:avLst/>
          </a:prstGeom>
          <a:noFill/>
        </p:spPr>
        <p:txBody>
          <a:bodyPr wrap="square">
            <a:spAutoFit/>
          </a:bodyPr>
          <a:lstStyle/>
          <a:p>
            <a:r>
              <a:rPr lang="en-US" sz="2200" dirty="0"/>
              <a:t>Just like any other business correspondence, the memo carries the company name</a:t>
            </a:r>
          </a:p>
          <a:p>
            <a:r>
              <a:rPr lang="en-US" sz="2200" dirty="0"/>
              <a:t>and image. It should, therefore, follow the company's accepted ways in which inhouse communication is formatted, organized, written, and routed. Be guided by</a:t>
            </a:r>
          </a:p>
          <a:p>
            <a:r>
              <a:rPr lang="en-US" sz="2200" dirty="0"/>
              <a:t>these four guidelines:</a:t>
            </a:r>
          </a:p>
          <a:p>
            <a:endParaRPr lang="en-US" sz="2200" dirty="0"/>
          </a:p>
          <a:p>
            <a:r>
              <a:rPr lang="en-US" sz="2200" b="1" dirty="0"/>
              <a:t>Be timely </a:t>
            </a:r>
            <a:r>
              <a:rPr lang="en-US" sz="2200" dirty="0"/>
              <a:t>– send announcements ahead of time.</a:t>
            </a:r>
          </a:p>
          <a:p>
            <a:r>
              <a:rPr lang="en-US" sz="2200" b="1" dirty="0"/>
              <a:t>Be professional </a:t>
            </a:r>
            <a:r>
              <a:rPr lang="en-US" sz="2200" dirty="0"/>
              <a:t>– accurate, well-written, and free from errors.</a:t>
            </a:r>
          </a:p>
          <a:p>
            <a:r>
              <a:rPr lang="en-US" sz="2200" b="1" dirty="0"/>
              <a:t>Be tactful </a:t>
            </a:r>
            <a:r>
              <a:rPr lang="en-US" sz="2200" dirty="0"/>
              <a:t>– polite and diplomatic in tone.</a:t>
            </a:r>
          </a:p>
          <a:p>
            <a:r>
              <a:rPr lang="en-US" sz="2200" b="1" dirty="0"/>
              <a:t>Send to the right person </a:t>
            </a:r>
            <a:r>
              <a:rPr lang="en-US" sz="2200" dirty="0"/>
              <a:t>– ensure it reaches the proper recipient.</a:t>
            </a:r>
          </a:p>
        </p:txBody>
      </p:sp>
    </p:spTree>
    <p:extLst>
      <p:ext uri="{BB962C8B-B14F-4D97-AF65-F5344CB8AC3E}">
        <p14:creationId xmlns:p14="http://schemas.microsoft.com/office/powerpoint/2010/main" val="2578397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B219-140C-0ABD-A06C-F8473847A19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80C5B44-FB8A-2986-64FC-F668B63096DD}"/>
              </a:ext>
            </a:extLst>
          </p:cNvPr>
          <p:cNvSpPr txBox="1"/>
          <p:nvPr/>
        </p:nvSpPr>
        <p:spPr>
          <a:xfrm>
            <a:off x="2094271" y="424934"/>
            <a:ext cx="8976852" cy="861774"/>
          </a:xfrm>
          <a:prstGeom prst="rect">
            <a:avLst/>
          </a:prstGeom>
          <a:noFill/>
        </p:spPr>
        <p:txBody>
          <a:bodyPr wrap="square">
            <a:spAutoFit/>
          </a:bodyPr>
          <a:lstStyle/>
          <a:p>
            <a:r>
              <a:rPr lang="en-US" sz="5000" b="1" dirty="0"/>
              <a:t>MEMO FORMAT AND PARTS</a:t>
            </a:r>
          </a:p>
        </p:txBody>
      </p:sp>
      <p:sp>
        <p:nvSpPr>
          <p:cNvPr id="9" name="TextBox 8">
            <a:extLst>
              <a:ext uri="{FF2B5EF4-FFF2-40B4-BE49-F238E27FC236}">
                <a16:creationId xmlns:a16="http://schemas.microsoft.com/office/drawing/2014/main" id="{187554D9-EEC5-F4AD-6FE5-4FFF0A3A910D}"/>
              </a:ext>
            </a:extLst>
          </p:cNvPr>
          <p:cNvSpPr txBox="1"/>
          <p:nvPr/>
        </p:nvSpPr>
        <p:spPr>
          <a:xfrm>
            <a:off x="688261" y="1667385"/>
            <a:ext cx="5043948" cy="4093428"/>
          </a:xfrm>
          <a:prstGeom prst="rect">
            <a:avLst/>
          </a:prstGeom>
          <a:noFill/>
        </p:spPr>
        <p:txBody>
          <a:bodyPr wrap="square">
            <a:spAutoFit/>
          </a:bodyPr>
          <a:lstStyle/>
          <a:p>
            <a:r>
              <a:rPr lang="en-US" sz="2000" dirty="0"/>
              <a:t>Memos vary in format and the way they are sent. Whatever the format, they should have the standard parts. The memo has basically </a:t>
            </a:r>
            <a:r>
              <a:rPr lang="en-US" sz="2000" b="1" dirty="0"/>
              <a:t>two parts:</a:t>
            </a:r>
          </a:p>
          <a:p>
            <a:r>
              <a:rPr lang="en-US" sz="2000" b="1" dirty="0"/>
              <a:t>HEADER</a:t>
            </a:r>
            <a:r>
              <a:rPr lang="en-US" sz="2000" dirty="0"/>
              <a:t> or identifying information and </a:t>
            </a:r>
            <a:r>
              <a:rPr lang="en-US" sz="2000" b="1" dirty="0"/>
              <a:t>MESSAGE</a:t>
            </a:r>
            <a:r>
              <a:rPr lang="en-US" sz="2000" dirty="0"/>
              <a:t>, aside from the word</a:t>
            </a:r>
          </a:p>
          <a:p>
            <a:r>
              <a:rPr lang="en-US" sz="2000" dirty="0"/>
              <a:t>MEMO or MEMORANDUM on top of the paper (Searles, 2014; Kolin, 2015).</a:t>
            </a:r>
          </a:p>
          <a:p>
            <a:endParaRPr lang="en-US" sz="2000" dirty="0"/>
          </a:p>
          <a:p>
            <a:r>
              <a:rPr lang="en-US" sz="2000" dirty="0"/>
              <a:t>1. </a:t>
            </a:r>
            <a:r>
              <a:rPr lang="en-US" sz="2000" b="1" dirty="0"/>
              <a:t>Header</a:t>
            </a:r>
            <a:r>
              <a:rPr lang="en-US" sz="2000" dirty="0"/>
              <a:t> - which includes four parts, as shown in the box.</a:t>
            </a:r>
          </a:p>
          <a:p>
            <a:r>
              <a:rPr lang="en-US" sz="2000" dirty="0"/>
              <a:t>2. </a:t>
            </a:r>
            <a:r>
              <a:rPr lang="en-US" sz="2000" b="1" dirty="0"/>
              <a:t>Message</a:t>
            </a:r>
            <a:r>
              <a:rPr lang="en-US" sz="2000" dirty="0"/>
              <a:t> - which follows the Orientation-Information Action format.</a:t>
            </a:r>
          </a:p>
        </p:txBody>
      </p:sp>
      <p:pic>
        <p:nvPicPr>
          <p:cNvPr id="13" name="Picture 12">
            <a:extLst>
              <a:ext uri="{FF2B5EF4-FFF2-40B4-BE49-F238E27FC236}">
                <a16:creationId xmlns:a16="http://schemas.microsoft.com/office/drawing/2014/main" id="{AEBCDCE0-558C-B326-9DF6-7D2897250B23}"/>
              </a:ext>
            </a:extLst>
          </p:cNvPr>
          <p:cNvPicPr>
            <a:picLocks noChangeAspect="1"/>
          </p:cNvPicPr>
          <p:nvPr/>
        </p:nvPicPr>
        <p:blipFill>
          <a:blip r:embed="rId2"/>
          <a:stretch>
            <a:fillRect/>
          </a:stretch>
        </p:blipFill>
        <p:spPr>
          <a:xfrm>
            <a:off x="6582697" y="1468454"/>
            <a:ext cx="4420217" cy="2464449"/>
          </a:xfrm>
          <a:prstGeom prst="rect">
            <a:avLst/>
          </a:prstGeom>
        </p:spPr>
      </p:pic>
      <p:pic>
        <p:nvPicPr>
          <p:cNvPr id="15" name="Picture 14">
            <a:extLst>
              <a:ext uri="{FF2B5EF4-FFF2-40B4-BE49-F238E27FC236}">
                <a16:creationId xmlns:a16="http://schemas.microsoft.com/office/drawing/2014/main" id="{D9F84DAE-9BA6-9D2B-6E89-D10155E3C79D}"/>
              </a:ext>
            </a:extLst>
          </p:cNvPr>
          <p:cNvPicPr>
            <a:picLocks noChangeAspect="1"/>
          </p:cNvPicPr>
          <p:nvPr/>
        </p:nvPicPr>
        <p:blipFill>
          <a:blip r:embed="rId3"/>
          <a:stretch>
            <a:fillRect/>
          </a:stretch>
        </p:blipFill>
        <p:spPr>
          <a:xfrm>
            <a:off x="6620802" y="4223082"/>
            <a:ext cx="4382112" cy="1537731"/>
          </a:xfrm>
          <a:prstGeom prst="rect">
            <a:avLst/>
          </a:prstGeom>
        </p:spPr>
      </p:pic>
    </p:spTree>
    <p:extLst>
      <p:ext uri="{BB962C8B-B14F-4D97-AF65-F5344CB8AC3E}">
        <p14:creationId xmlns:p14="http://schemas.microsoft.com/office/powerpoint/2010/main" val="66494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804C7-E49F-38F3-80B0-91A327BC55E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6EE1BFD-FB8E-82E4-48A6-C25B053241EF}"/>
              </a:ext>
            </a:extLst>
          </p:cNvPr>
          <p:cNvSpPr txBox="1"/>
          <p:nvPr/>
        </p:nvSpPr>
        <p:spPr>
          <a:xfrm>
            <a:off x="3185651" y="365939"/>
            <a:ext cx="6096000" cy="861774"/>
          </a:xfrm>
          <a:prstGeom prst="rect">
            <a:avLst/>
          </a:prstGeom>
          <a:noFill/>
        </p:spPr>
        <p:txBody>
          <a:bodyPr wrap="square">
            <a:spAutoFit/>
          </a:bodyPr>
          <a:lstStyle/>
          <a:p>
            <a:r>
              <a:rPr lang="en-US" sz="5000" b="1" dirty="0"/>
              <a:t>LETTER OF REQUEST</a:t>
            </a:r>
          </a:p>
        </p:txBody>
      </p:sp>
      <p:sp>
        <p:nvSpPr>
          <p:cNvPr id="9" name="TextBox 8">
            <a:extLst>
              <a:ext uri="{FF2B5EF4-FFF2-40B4-BE49-F238E27FC236}">
                <a16:creationId xmlns:a16="http://schemas.microsoft.com/office/drawing/2014/main" id="{31798310-4739-B4BB-78FF-94385DA62074}"/>
              </a:ext>
            </a:extLst>
          </p:cNvPr>
          <p:cNvSpPr txBox="1"/>
          <p:nvPr/>
        </p:nvSpPr>
        <p:spPr>
          <a:xfrm>
            <a:off x="560437" y="1227713"/>
            <a:ext cx="11808543" cy="4939814"/>
          </a:xfrm>
          <a:prstGeom prst="rect">
            <a:avLst/>
          </a:prstGeom>
          <a:noFill/>
        </p:spPr>
        <p:txBody>
          <a:bodyPr wrap="square">
            <a:spAutoFit/>
          </a:bodyPr>
          <a:lstStyle/>
          <a:p>
            <a:r>
              <a:rPr lang="en-US" sz="2100" dirty="0"/>
              <a:t>Business letters are mainly used for external communication, such as messages</a:t>
            </a:r>
          </a:p>
          <a:p>
            <a:r>
              <a:rPr lang="en-US" sz="2100" dirty="0"/>
              <a:t>between companies, clients, or suppliers. One common type is the letter of request,</a:t>
            </a:r>
          </a:p>
          <a:p>
            <a:r>
              <a:rPr lang="en-US" sz="2100" dirty="0"/>
              <a:t>written when seeking help, information, or clarification. According to Kolin (2015),</a:t>
            </a:r>
          </a:p>
          <a:p>
            <a:r>
              <a:rPr lang="en-US" sz="2100" dirty="0"/>
              <a:t>writing a request letter should follow specific guidelines to ensure clarity and</a:t>
            </a:r>
          </a:p>
          <a:p>
            <a:r>
              <a:rPr lang="en-US" sz="2100" dirty="0"/>
              <a:t>professionalism.</a:t>
            </a:r>
          </a:p>
          <a:p>
            <a:pPr algn="ctr"/>
            <a:r>
              <a:rPr lang="en-US" sz="2100" b="1" dirty="0"/>
              <a:t>Guidelines in writing letter of request:</a:t>
            </a:r>
          </a:p>
          <a:p>
            <a:r>
              <a:rPr lang="en-US" sz="2100" dirty="0"/>
              <a:t>1. Direct/address your letter to the right person.</a:t>
            </a:r>
          </a:p>
          <a:p>
            <a:r>
              <a:rPr lang="en-US" sz="2100" dirty="0"/>
              <a:t>2. State who you are and your work title and why you are writing.</a:t>
            </a:r>
          </a:p>
          <a:p>
            <a:r>
              <a:rPr lang="en-US" sz="2100" dirty="0"/>
              <a:t>3. Indicate your reason for requesting help and, if applicable, mention who suggested</a:t>
            </a:r>
          </a:p>
          <a:p>
            <a:r>
              <a:rPr lang="en-US" sz="2100" dirty="0"/>
              <a:t>you write.</a:t>
            </a:r>
          </a:p>
          <a:p>
            <a:r>
              <a:rPr lang="en-US" sz="2100" dirty="0"/>
              <a:t>4. State your questions briefly and clearly:</a:t>
            </a:r>
          </a:p>
          <a:p>
            <a:r>
              <a:rPr lang="en-US" sz="2100" dirty="0"/>
              <a:t>5. Indicate exactly when you need the information, but allow sufficient time</a:t>
            </a:r>
          </a:p>
          <a:p>
            <a:r>
              <a:rPr lang="en-US" sz="2100" dirty="0"/>
              <a:t>6. Offer to forward a copy of your report, article, or paper in gratitude for the</a:t>
            </a:r>
          </a:p>
          <a:p>
            <a:r>
              <a:rPr lang="en-US" sz="2100" dirty="0"/>
              <a:t>anticipated help.</a:t>
            </a:r>
          </a:p>
          <a:p>
            <a:r>
              <a:rPr lang="en-US" sz="2100" dirty="0"/>
              <a:t>7. Thank the reader for helping</a:t>
            </a:r>
          </a:p>
        </p:txBody>
      </p:sp>
    </p:spTree>
    <p:extLst>
      <p:ext uri="{BB962C8B-B14F-4D97-AF65-F5344CB8AC3E}">
        <p14:creationId xmlns:p14="http://schemas.microsoft.com/office/powerpoint/2010/main" val="747688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F814A-6185-A0C2-56D3-85D20675826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9215BAE-2941-BA3E-0266-4E2B1C229AF4}"/>
              </a:ext>
            </a:extLst>
          </p:cNvPr>
          <p:cNvSpPr txBox="1"/>
          <p:nvPr/>
        </p:nvSpPr>
        <p:spPr>
          <a:xfrm>
            <a:off x="806245" y="2783536"/>
            <a:ext cx="10825316" cy="1015663"/>
          </a:xfrm>
          <a:prstGeom prst="rect">
            <a:avLst/>
          </a:prstGeom>
          <a:noFill/>
        </p:spPr>
        <p:txBody>
          <a:bodyPr wrap="square">
            <a:spAutoFit/>
          </a:bodyPr>
          <a:lstStyle/>
          <a:p>
            <a:r>
              <a:rPr lang="en-US" sz="6000" b="1" dirty="0">
                <a:latin typeface="Bell MT" panose="02020503060305020303" pitchFamily="18" charset="0"/>
              </a:rPr>
              <a:t>TYPES OF SHORT REPORTS</a:t>
            </a:r>
          </a:p>
        </p:txBody>
      </p:sp>
    </p:spTree>
    <p:extLst>
      <p:ext uri="{BB962C8B-B14F-4D97-AF65-F5344CB8AC3E}">
        <p14:creationId xmlns:p14="http://schemas.microsoft.com/office/powerpoint/2010/main" val="926916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4E70A-345B-FFB2-DA4B-30F6E256D66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6DBBCE-E716-996F-12C8-7BA8B77BC11B}"/>
              </a:ext>
            </a:extLst>
          </p:cNvPr>
          <p:cNvSpPr txBox="1"/>
          <p:nvPr/>
        </p:nvSpPr>
        <p:spPr>
          <a:xfrm>
            <a:off x="3559277" y="1593351"/>
            <a:ext cx="5073446" cy="861774"/>
          </a:xfrm>
          <a:prstGeom prst="rect">
            <a:avLst/>
          </a:prstGeom>
          <a:noFill/>
        </p:spPr>
        <p:txBody>
          <a:bodyPr wrap="square">
            <a:spAutoFit/>
          </a:bodyPr>
          <a:lstStyle/>
          <a:p>
            <a:r>
              <a:rPr lang="en-US" sz="5000" b="1" dirty="0"/>
              <a:t>SHORT REPORTS</a:t>
            </a:r>
          </a:p>
        </p:txBody>
      </p:sp>
      <p:sp>
        <p:nvSpPr>
          <p:cNvPr id="9" name="TextBox 8">
            <a:extLst>
              <a:ext uri="{FF2B5EF4-FFF2-40B4-BE49-F238E27FC236}">
                <a16:creationId xmlns:a16="http://schemas.microsoft.com/office/drawing/2014/main" id="{87867761-5D38-845F-9EF5-6A59DBE0B905}"/>
              </a:ext>
            </a:extLst>
          </p:cNvPr>
          <p:cNvSpPr txBox="1"/>
          <p:nvPr/>
        </p:nvSpPr>
        <p:spPr>
          <a:xfrm>
            <a:off x="766915" y="2644170"/>
            <a:ext cx="10658169" cy="1569660"/>
          </a:xfrm>
          <a:prstGeom prst="rect">
            <a:avLst/>
          </a:prstGeom>
          <a:noFill/>
        </p:spPr>
        <p:txBody>
          <a:bodyPr wrap="square">
            <a:spAutoFit/>
          </a:bodyPr>
          <a:lstStyle/>
          <a:p>
            <a:pPr algn="ctr"/>
            <a:r>
              <a:rPr lang="en-US" sz="2400" dirty="0"/>
              <a:t>A </a:t>
            </a:r>
            <a:r>
              <a:rPr lang="en-US" sz="2400" b="1" dirty="0"/>
              <a:t>short report</a:t>
            </a:r>
            <a:r>
              <a:rPr lang="en-US" sz="2400" dirty="0"/>
              <a:t> may be oral or written, such as in a memo, letter,</a:t>
            </a:r>
          </a:p>
          <a:p>
            <a:pPr algn="ctr"/>
            <a:r>
              <a:rPr lang="en-US" sz="2400" dirty="0"/>
              <a:t>or email, and is meant to inform the reader about a specific</a:t>
            </a:r>
          </a:p>
          <a:p>
            <a:pPr algn="ctr"/>
            <a:r>
              <a:rPr lang="en-US" sz="2400" dirty="0"/>
              <a:t>topic. It is an organized presentation of relevant data that a</a:t>
            </a:r>
          </a:p>
          <a:p>
            <a:pPr algn="ctr"/>
            <a:r>
              <a:rPr lang="en-US" sz="2400" dirty="0"/>
              <a:t>company or agency deals with in its operations.</a:t>
            </a:r>
          </a:p>
        </p:txBody>
      </p:sp>
    </p:spTree>
    <p:extLst>
      <p:ext uri="{BB962C8B-B14F-4D97-AF65-F5344CB8AC3E}">
        <p14:creationId xmlns:p14="http://schemas.microsoft.com/office/powerpoint/2010/main" val="4044307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A3827-95B6-B6A8-BA3F-6FCA9BFBD30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A5EDD83-5D04-421A-F346-5E123A339D4E}"/>
              </a:ext>
            </a:extLst>
          </p:cNvPr>
          <p:cNvSpPr txBox="1"/>
          <p:nvPr/>
        </p:nvSpPr>
        <p:spPr>
          <a:xfrm>
            <a:off x="1268360" y="277449"/>
            <a:ext cx="3637935" cy="1631216"/>
          </a:xfrm>
          <a:prstGeom prst="rect">
            <a:avLst/>
          </a:prstGeom>
          <a:noFill/>
        </p:spPr>
        <p:txBody>
          <a:bodyPr wrap="square">
            <a:spAutoFit/>
          </a:bodyPr>
          <a:lstStyle/>
          <a:p>
            <a:pPr algn="ctr"/>
            <a:r>
              <a:rPr lang="en-US" sz="5000" b="1" dirty="0"/>
              <a:t>PROGRESS</a:t>
            </a:r>
          </a:p>
          <a:p>
            <a:pPr algn="ctr"/>
            <a:r>
              <a:rPr lang="en-US" sz="5000" b="1" dirty="0"/>
              <a:t>REPORT</a:t>
            </a:r>
          </a:p>
        </p:txBody>
      </p:sp>
      <p:sp>
        <p:nvSpPr>
          <p:cNvPr id="9" name="TextBox 8">
            <a:extLst>
              <a:ext uri="{FF2B5EF4-FFF2-40B4-BE49-F238E27FC236}">
                <a16:creationId xmlns:a16="http://schemas.microsoft.com/office/drawing/2014/main" id="{AC7DD1C7-F4DC-6568-405B-C86B6E0DF431}"/>
              </a:ext>
            </a:extLst>
          </p:cNvPr>
          <p:cNvSpPr txBox="1"/>
          <p:nvPr/>
        </p:nvSpPr>
        <p:spPr>
          <a:xfrm>
            <a:off x="609600" y="2199486"/>
            <a:ext cx="6381135" cy="2800767"/>
          </a:xfrm>
          <a:prstGeom prst="rect">
            <a:avLst/>
          </a:prstGeom>
          <a:noFill/>
        </p:spPr>
        <p:txBody>
          <a:bodyPr wrap="square">
            <a:spAutoFit/>
          </a:bodyPr>
          <a:lstStyle/>
          <a:p>
            <a:r>
              <a:rPr lang="en-US" sz="2200" dirty="0"/>
              <a:t>A progress report informs management about the status of an ongoing project,</a:t>
            </a:r>
          </a:p>
          <a:p>
            <a:r>
              <a:rPr lang="en-US" sz="2200" dirty="0"/>
              <a:t>including what has been done, what is in progress, and what will be done by a certain date. When timely and accurate, it helps management adjust plans, meet deadlines,</a:t>
            </a:r>
          </a:p>
          <a:p>
            <a:r>
              <a:rPr lang="en-US" sz="2200" dirty="0"/>
              <a:t>and avoid unnecessary problems or expenses.</a:t>
            </a:r>
          </a:p>
        </p:txBody>
      </p:sp>
      <p:pic>
        <p:nvPicPr>
          <p:cNvPr id="19" name="Picture 18">
            <a:extLst>
              <a:ext uri="{FF2B5EF4-FFF2-40B4-BE49-F238E27FC236}">
                <a16:creationId xmlns:a16="http://schemas.microsoft.com/office/drawing/2014/main" id="{89AA8A10-7741-EAAC-AC31-03D9618B8407}"/>
              </a:ext>
            </a:extLst>
          </p:cNvPr>
          <p:cNvPicPr>
            <a:picLocks noChangeAspect="1"/>
          </p:cNvPicPr>
          <p:nvPr/>
        </p:nvPicPr>
        <p:blipFill>
          <a:blip r:embed="rId2"/>
          <a:stretch>
            <a:fillRect/>
          </a:stretch>
        </p:blipFill>
        <p:spPr>
          <a:xfrm>
            <a:off x="7403693" y="513064"/>
            <a:ext cx="3791479" cy="5738466"/>
          </a:xfrm>
          <a:prstGeom prst="rect">
            <a:avLst/>
          </a:prstGeom>
        </p:spPr>
      </p:pic>
    </p:spTree>
    <p:extLst>
      <p:ext uri="{BB962C8B-B14F-4D97-AF65-F5344CB8AC3E}">
        <p14:creationId xmlns:p14="http://schemas.microsoft.com/office/powerpoint/2010/main" val="3351123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13D67-EFF0-3264-C876-7AFB146D6BF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AC9B51A2-F7DA-66D1-C239-D8A6E6294B7A}"/>
              </a:ext>
            </a:extLst>
          </p:cNvPr>
          <p:cNvPicPr>
            <a:picLocks noChangeAspect="1"/>
          </p:cNvPicPr>
          <p:nvPr/>
        </p:nvPicPr>
        <p:blipFill>
          <a:blip r:embed="rId2"/>
          <a:stretch>
            <a:fillRect/>
          </a:stretch>
        </p:blipFill>
        <p:spPr>
          <a:xfrm>
            <a:off x="1436336" y="450226"/>
            <a:ext cx="3596952" cy="2103302"/>
          </a:xfrm>
          <a:prstGeom prst="rect">
            <a:avLst/>
          </a:prstGeom>
        </p:spPr>
      </p:pic>
      <p:sp>
        <p:nvSpPr>
          <p:cNvPr id="12" name="TextBox 11">
            <a:extLst>
              <a:ext uri="{FF2B5EF4-FFF2-40B4-BE49-F238E27FC236}">
                <a16:creationId xmlns:a16="http://schemas.microsoft.com/office/drawing/2014/main" id="{8373F36A-9BE0-2FE5-14DA-50F773D69305}"/>
              </a:ext>
            </a:extLst>
          </p:cNvPr>
          <p:cNvSpPr txBox="1"/>
          <p:nvPr/>
        </p:nvSpPr>
        <p:spPr>
          <a:xfrm>
            <a:off x="560438" y="2553528"/>
            <a:ext cx="6194324" cy="2123658"/>
          </a:xfrm>
          <a:prstGeom prst="rect">
            <a:avLst/>
          </a:prstGeom>
          <a:noFill/>
        </p:spPr>
        <p:txBody>
          <a:bodyPr wrap="square">
            <a:spAutoFit/>
          </a:bodyPr>
          <a:lstStyle/>
          <a:p>
            <a:r>
              <a:rPr lang="en-US" sz="2200" dirty="0"/>
              <a:t>An incident report records unexpected events that cause harm to people, property, or operations, such as accidents, injuries, or breakdowns. It is usually written by the person involved or the one in charge to explain the circumstances of the incident.</a:t>
            </a:r>
          </a:p>
        </p:txBody>
      </p:sp>
      <p:pic>
        <p:nvPicPr>
          <p:cNvPr id="14" name="Picture 13">
            <a:extLst>
              <a:ext uri="{FF2B5EF4-FFF2-40B4-BE49-F238E27FC236}">
                <a16:creationId xmlns:a16="http://schemas.microsoft.com/office/drawing/2014/main" id="{2BCC073A-18A2-70A7-D949-21422683B45D}"/>
              </a:ext>
            </a:extLst>
          </p:cNvPr>
          <p:cNvPicPr>
            <a:picLocks noChangeAspect="1"/>
          </p:cNvPicPr>
          <p:nvPr/>
        </p:nvPicPr>
        <p:blipFill>
          <a:blip r:embed="rId3"/>
          <a:stretch>
            <a:fillRect/>
          </a:stretch>
        </p:blipFill>
        <p:spPr>
          <a:xfrm>
            <a:off x="7476718" y="567166"/>
            <a:ext cx="3629532" cy="4858428"/>
          </a:xfrm>
          <a:prstGeom prst="rect">
            <a:avLst/>
          </a:prstGeom>
        </p:spPr>
      </p:pic>
    </p:spTree>
    <p:extLst>
      <p:ext uri="{BB962C8B-B14F-4D97-AF65-F5344CB8AC3E}">
        <p14:creationId xmlns:p14="http://schemas.microsoft.com/office/powerpoint/2010/main" val="4198667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963B-E1D9-C7F0-DFFE-EFBF0E885AE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AC4433-D679-B185-4F1B-63AC8AB8DC68}"/>
              </a:ext>
            </a:extLst>
          </p:cNvPr>
          <p:cNvSpPr txBox="1"/>
          <p:nvPr/>
        </p:nvSpPr>
        <p:spPr>
          <a:xfrm>
            <a:off x="2753031" y="1241012"/>
            <a:ext cx="7502013" cy="861774"/>
          </a:xfrm>
          <a:prstGeom prst="rect">
            <a:avLst/>
          </a:prstGeom>
          <a:noFill/>
        </p:spPr>
        <p:txBody>
          <a:bodyPr wrap="square">
            <a:spAutoFit/>
          </a:bodyPr>
          <a:lstStyle/>
          <a:p>
            <a:r>
              <a:rPr lang="en-US" sz="5000" b="1" dirty="0"/>
              <a:t>PROJECT PROPOSAL</a:t>
            </a:r>
          </a:p>
        </p:txBody>
      </p:sp>
      <p:sp>
        <p:nvSpPr>
          <p:cNvPr id="9" name="TextBox 8">
            <a:extLst>
              <a:ext uri="{FF2B5EF4-FFF2-40B4-BE49-F238E27FC236}">
                <a16:creationId xmlns:a16="http://schemas.microsoft.com/office/drawing/2014/main" id="{A48334BF-A808-8EC9-F185-A8C70937A69F}"/>
              </a:ext>
            </a:extLst>
          </p:cNvPr>
          <p:cNvSpPr txBox="1"/>
          <p:nvPr/>
        </p:nvSpPr>
        <p:spPr>
          <a:xfrm>
            <a:off x="1383891" y="2536448"/>
            <a:ext cx="9205451" cy="1785104"/>
          </a:xfrm>
          <a:prstGeom prst="rect">
            <a:avLst/>
          </a:prstGeom>
          <a:noFill/>
        </p:spPr>
        <p:txBody>
          <a:bodyPr wrap="square">
            <a:spAutoFit/>
          </a:bodyPr>
          <a:lstStyle/>
          <a:p>
            <a:r>
              <a:rPr lang="en-US" sz="2200" dirty="0"/>
              <a:t>A project proposal is a document written to persuade someone to follow or accept a specific course of action. It may propose </a:t>
            </a:r>
            <a:r>
              <a:rPr lang="en-US" sz="2200" b="1" dirty="0"/>
              <a:t>(a)</a:t>
            </a:r>
            <a:r>
              <a:rPr lang="en-US" sz="2200" dirty="0"/>
              <a:t> a change of process or policy, </a:t>
            </a:r>
            <a:r>
              <a:rPr lang="en-US" sz="2200" b="1" dirty="0"/>
              <a:t>(b)</a:t>
            </a:r>
            <a:r>
              <a:rPr lang="en-US" sz="2200" dirty="0"/>
              <a:t> a solution to a problem, </a:t>
            </a:r>
            <a:r>
              <a:rPr lang="en-US" sz="2200" b="1" dirty="0"/>
              <a:t>(c) </a:t>
            </a:r>
            <a:r>
              <a:rPr lang="en-US" sz="2200" dirty="0"/>
              <a:t>the purchase of a product or service, </a:t>
            </a:r>
          </a:p>
          <a:p>
            <a:r>
              <a:rPr lang="en-US" sz="2200" b="1" dirty="0"/>
              <a:t>(d)</a:t>
            </a:r>
            <a:r>
              <a:rPr lang="en-US" sz="2200" dirty="0"/>
              <a:t> the pursuit of an activity, or </a:t>
            </a:r>
            <a:r>
              <a:rPr lang="en-US" sz="2200" b="1" dirty="0"/>
              <a:t>(e) </a:t>
            </a:r>
            <a:r>
              <a:rPr lang="en-US" sz="2200" dirty="0"/>
              <a:t>research.</a:t>
            </a:r>
          </a:p>
        </p:txBody>
      </p:sp>
    </p:spTree>
    <p:extLst>
      <p:ext uri="{BB962C8B-B14F-4D97-AF65-F5344CB8AC3E}">
        <p14:creationId xmlns:p14="http://schemas.microsoft.com/office/powerpoint/2010/main" val="2714347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D3E01-A4D5-AB20-6105-9BC05C59979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E5BBC0-B7A9-B590-47B8-34B9F37C7951}"/>
              </a:ext>
            </a:extLst>
          </p:cNvPr>
          <p:cNvSpPr txBox="1"/>
          <p:nvPr/>
        </p:nvSpPr>
        <p:spPr>
          <a:xfrm>
            <a:off x="167149" y="523256"/>
            <a:ext cx="6833420" cy="1631216"/>
          </a:xfrm>
          <a:prstGeom prst="rect">
            <a:avLst/>
          </a:prstGeom>
          <a:noFill/>
        </p:spPr>
        <p:txBody>
          <a:bodyPr wrap="square">
            <a:spAutoFit/>
          </a:bodyPr>
          <a:lstStyle/>
          <a:p>
            <a:pPr algn="ctr"/>
            <a:r>
              <a:rPr lang="en-US" sz="5000" b="1" dirty="0"/>
              <a:t>SOLICITED INTERNAL PROPOSAL</a:t>
            </a:r>
          </a:p>
        </p:txBody>
      </p:sp>
      <p:sp>
        <p:nvSpPr>
          <p:cNvPr id="9" name="TextBox 8">
            <a:extLst>
              <a:ext uri="{FF2B5EF4-FFF2-40B4-BE49-F238E27FC236}">
                <a16:creationId xmlns:a16="http://schemas.microsoft.com/office/drawing/2014/main" id="{90BB73FB-E88F-4C41-33CD-C2C38914CC1A}"/>
              </a:ext>
            </a:extLst>
          </p:cNvPr>
          <p:cNvSpPr txBox="1"/>
          <p:nvPr/>
        </p:nvSpPr>
        <p:spPr>
          <a:xfrm>
            <a:off x="560439" y="2179760"/>
            <a:ext cx="5535561" cy="3816429"/>
          </a:xfrm>
          <a:prstGeom prst="rect">
            <a:avLst/>
          </a:prstGeom>
          <a:noFill/>
        </p:spPr>
        <p:txBody>
          <a:bodyPr wrap="square">
            <a:spAutoFit/>
          </a:bodyPr>
          <a:lstStyle/>
          <a:p>
            <a:r>
              <a:rPr lang="en-US" sz="2200" dirty="0"/>
              <a:t>A </a:t>
            </a:r>
            <a:r>
              <a:rPr lang="en-US" sz="2200" b="1" dirty="0"/>
              <a:t>Solicited Internal Proposal </a:t>
            </a:r>
            <a:r>
              <a:rPr lang="en-US" sz="2200" dirty="0"/>
              <a:t>is a proposal written within an organization in response to a specific request from management or another department. It presents solutions, plans, or recommendations to meet a stated need or problem. The primary purpose of an internal proposal is to offer realistic, constructive plans to</a:t>
            </a:r>
          </a:p>
          <a:p>
            <a:r>
              <a:rPr lang="en-US" sz="2200" dirty="0"/>
              <a:t>help the management run the business efficiently and effectively.</a:t>
            </a:r>
          </a:p>
        </p:txBody>
      </p:sp>
      <p:pic>
        <p:nvPicPr>
          <p:cNvPr id="11" name="Picture 10">
            <a:extLst>
              <a:ext uri="{FF2B5EF4-FFF2-40B4-BE49-F238E27FC236}">
                <a16:creationId xmlns:a16="http://schemas.microsoft.com/office/drawing/2014/main" id="{BD289739-2ECD-A4F5-C3D2-E972C7C9549F}"/>
              </a:ext>
            </a:extLst>
          </p:cNvPr>
          <p:cNvPicPr>
            <a:picLocks noChangeAspect="1"/>
          </p:cNvPicPr>
          <p:nvPr/>
        </p:nvPicPr>
        <p:blipFill>
          <a:blip r:embed="rId2"/>
          <a:stretch>
            <a:fillRect/>
          </a:stretch>
        </p:blipFill>
        <p:spPr>
          <a:xfrm>
            <a:off x="7115023" y="1085523"/>
            <a:ext cx="4372585" cy="4686954"/>
          </a:xfrm>
          <a:prstGeom prst="rect">
            <a:avLst/>
          </a:prstGeom>
        </p:spPr>
      </p:pic>
    </p:spTree>
    <p:extLst>
      <p:ext uri="{BB962C8B-B14F-4D97-AF65-F5344CB8AC3E}">
        <p14:creationId xmlns:p14="http://schemas.microsoft.com/office/powerpoint/2010/main" val="2349625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AAF3709-91F2-2401-A02A-7A2082AF7F97}"/>
              </a:ext>
            </a:extLst>
          </p:cNvPr>
          <p:cNvSpPr txBox="1"/>
          <p:nvPr/>
        </p:nvSpPr>
        <p:spPr>
          <a:xfrm>
            <a:off x="2867548" y="1536174"/>
            <a:ext cx="6456903" cy="3785652"/>
          </a:xfrm>
          <a:prstGeom prst="rect">
            <a:avLst/>
          </a:prstGeom>
          <a:noFill/>
        </p:spPr>
        <p:txBody>
          <a:bodyPr wrap="square">
            <a:spAutoFit/>
          </a:bodyPr>
          <a:lstStyle/>
          <a:p>
            <a:pPr algn="ctr"/>
            <a:r>
              <a:rPr lang="en-US" sz="8000" dirty="0">
                <a:latin typeface="Bell MT" panose="02020503060305020303" pitchFamily="18" charset="0"/>
              </a:rPr>
              <a:t>THANK YOU</a:t>
            </a:r>
          </a:p>
          <a:p>
            <a:pPr algn="ctr"/>
            <a:r>
              <a:rPr lang="en-US" sz="8000" dirty="0">
                <a:latin typeface="Bell MT" panose="02020503060305020303" pitchFamily="18" charset="0"/>
              </a:rPr>
              <a:t>FOR LISTENING!</a:t>
            </a:r>
          </a:p>
        </p:txBody>
      </p:sp>
    </p:spTree>
    <p:extLst>
      <p:ext uri="{BB962C8B-B14F-4D97-AF65-F5344CB8AC3E}">
        <p14:creationId xmlns:p14="http://schemas.microsoft.com/office/powerpoint/2010/main" val="6964652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100</TotalTime>
  <Words>1262</Words>
  <Application>Microsoft Office PowerPoint</Application>
  <PresentationFormat>Widescreen</PresentationFormat>
  <Paragraphs>141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Bell MT</vt:lpstr>
      <vt:lpstr>Century Gothic</vt:lpstr>
      <vt:lpstr>Wingdings 3</vt:lpstr>
      <vt:lpstr>Ion</vt:lpstr>
      <vt:lpstr>Communication  for work  purposes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HomePC</dc:creator>
  <cp:lastModifiedBy>HomePC</cp:lastModifiedBy>
  <cp:revision>2</cp:revision>
  <dcterms:created xsi:type="dcterms:W3CDTF">2025-10-20T02:56:30Z</dcterms:created>
  <dcterms:modified xsi:type="dcterms:W3CDTF">2025-10-20T04:36:33Z</dcterms:modified>
</cp:coreProperties>
</file>